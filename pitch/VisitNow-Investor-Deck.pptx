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0"/>
            </a:avLst>
          </a:prstGeom>
          <a:solidFill>
            <a:srgbClr val="1C6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VisitNow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3794759" cy="329184"/>
          </a:xfrm>
          <a:prstGeom prst="roundRect">
            <a:avLst>
              <a:gd name="adj" fmla="val 50000"/>
            </a:avLst>
          </a:prstGeom>
          <a:solidFill>
            <a:srgbClr val="2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LIVE IN HYDERABAD · WARANGAL ·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8686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Skip the wait.</a:t>
            </a:r>
          </a:p>
          <a:p>
            <a:pPr algn="l">
              <a:lnSpc>
                <a:spcPct val="102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Not the doctor.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16052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7CDDC"/>
                </a:solidFill>
                <a:latin typeface="Calibri"/>
              </a:rPr>
              <a:t>The queue infrastructure for local clinics and hospitals in India.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C7CDDC"/>
                </a:solidFill>
                <a:latin typeface="Calibri"/>
              </a:rPr>
              <a:t>Built, working, and demoed live in this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6899A"/>
                </a:solidFill>
                <a:latin typeface="Calibri"/>
              </a:rPr>
              <a:t>Investor overview · August 2026 · Confidential</a:t>
            </a:r>
          </a:p>
        </p:txBody>
      </p:sp>
      <p:pic>
        <p:nvPicPr>
          <p:cNvPr id="9" name="Picture 8" descr="hero-board.crop_0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8016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A1D26"/>
                </a:solidFill>
                <a:latin typeface="Arial"/>
              </a:rPr>
              <a:t>Every local clinic runs on the same broken promise: “come at 10, we'll see you.”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42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286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02E2E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926080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A1D26"/>
                </a:solidFill>
                <a:latin typeface="Arial"/>
              </a:rPr>
              <a:t>Patients wait blind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611880"/>
            <a:ext cx="20299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The only way to check the queue is to stand in it. Nobody can see how far back they really 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2011680"/>
            <a:ext cx="2542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6" y="2286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6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02E2E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6" y="2926080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A1D26"/>
                </a:solidFill>
                <a:latin typeface="Arial"/>
              </a:rPr>
              <a:t>Two queues, one counter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6" y="3611880"/>
            <a:ext cx="20299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Walk-ins and online bookings are tracked separately. Reception is the only place they meet, and only on paper.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011680"/>
            <a:ext cx="2542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2286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02E2E"/>
                </a:solidFill>
                <a:latin typeface="Calibr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A1D26"/>
                </a:solidFill>
                <a:latin typeface="Arial"/>
              </a:rPr>
              <a:t>Owners fly blind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11880"/>
            <a:ext cx="20299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No daily revenue, no doctor performance, no patient history. Just a register and a guess.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5712" y="2011680"/>
            <a:ext cx="2542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81744" y="2286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02E2E"/>
                </a:solidFill>
                <a:latin typeface="Calibri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2926080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A1D26"/>
                </a:solidFill>
                <a:latin typeface="Arial"/>
              </a:rPr>
              <a:t>Doctors split across clinics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3611880"/>
            <a:ext cx="20299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A doctor working two shifts at two clinics has no single view of their own patients or their own earnings.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02 / 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4A3FB"/>
                </a:solidFill>
                <a:latin typeface="Calibr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Arial"/>
              </a:rPr>
              <a:t>A token beats an appointment. It's the one thing nobody built properly.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B9C1D6"/>
                </a:solidFill>
                <a:latin typeface="Calibri"/>
              </a:rPr>
              <a:t>Every patient gets a real numbered token the moment they book: online, at the counter, or from a scheduled visit. All three land in one 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770632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1C6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3405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One queue, no exceptions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72968"/>
            <a:ext cx="4343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Every token, however it was created, joins the same line in the same call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14600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770632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1C6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73405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No slot to defend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72968"/>
            <a:ext cx="4343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A token holds a place. Patients walk in when the queue is actually close, not an hour early to be safe.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4553712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1C6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51713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Doctors, not clinics, are the 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56048"/>
            <a:ext cx="4343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One doctor covering two clinics sees both queues and both paychecks, without merging them into noise.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297680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4553712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1C6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1713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Live for the whole 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56048"/>
            <a:ext cx="4343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Patient, receptionist, doctor, and owner all watch the same number move, at the same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03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D26"/>
                </a:solidFill>
                <a:latin typeface="Arial"/>
              </a:rPr>
              <a:t>From search to seen, in four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C7D6FB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6"/>
                </a:solidFill>
                <a:latin typeface="Arial"/>
              </a:rPr>
              <a:t>Find your doctor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2377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Search by doctor, specialty, or clinic. See who's live now and who opens later today.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084831"/>
            <a:ext cx="320040" cy="164592"/>
          </a:xfrm>
          <a:prstGeom prst="rightArrow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C7D6FB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974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6"/>
                </a:solidFill>
                <a:latin typeface="Arial"/>
              </a:rPr>
              <a:t>Get your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54680"/>
            <a:ext cx="2377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Pick a payment method, confirm the fee breakdown, get a real numbered token in seconds.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60720" y="2084831"/>
            <a:ext cx="320040" cy="164592"/>
          </a:xfrm>
          <a:prstGeom prst="rightArrow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C7D6FB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6"/>
                </a:solidFill>
                <a:latin typeface="Arial"/>
              </a:rPr>
              <a:t>Track it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54680"/>
            <a:ext cx="2377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Watch position update as the doctor's queue moves. No refreshing, no guessing.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58200" y="2084831"/>
            <a:ext cx="320040" cy="164592"/>
          </a:xfrm>
          <a:prstGeom prst="rightArrow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9202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C7D6FB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6974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6"/>
                </a:solidFill>
                <a:latin typeface="Arial"/>
              </a:rPr>
              <a:t>Walk in 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54680"/>
            <a:ext cx="2377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Show up when actually close to being called, and show the 4-digit code at the desk.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49240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No fixed slot. A token holds the place, and patients show up when it's actually close.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04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D26"/>
                </a:solidFill>
                <a:latin typeface="Arial"/>
              </a:rPr>
              <a:t>Patients see the actual line before they leave the house.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Search by doctor, specialty, or clinic, and see exactly who is live right now.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One page: now serving, how many are waiting, and today's fee, before committing to anything.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The same live number reception sees at the counter is exactly what the patient sees on their phone.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Cancel or track a token from the same screen. No phone call to the clinic, ever.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8112" y="941832"/>
            <a:ext cx="6254496" cy="39913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ession-detail.crop_0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603504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05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D26"/>
                </a:solidFill>
                <a:latin typeface="Arial"/>
              </a:rPr>
              <a:t>Two ways to pay. One fee nobody has to negotiate.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Pay the full token fee online in one step, or pay ₹9 now and settle the clinic's fee at the counter.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The clinic sets and keeps its own price. VisitNow's own cut is a flat ₹9, on every token, always.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Coupons apply at checkout instantly, but the real discount is recalculated and verified on the server before a token is ever issued.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A 4-digit code confirms every online token. Reception looks it up; it was never meant to be a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8112" y="941832"/>
            <a:ext cx="6254496" cy="39913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token-payment.crop_0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603504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06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D26"/>
                </a:solidFill>
                <a:latin typeface="Arial"/>
              </a:rPr>
              <a:t>Reception runs the entire day from one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Call next, mark complete, skip, or flag priority, in an order the system enforces, not memory.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Generate a walk-in token or verify a patient's 4-digit code without leaving the queue view.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Collect a pay-at-hospital fee in person, recorded permanently against the staff member who took it.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A back button and clear context on every screen. This is a tool for a busy desk, not a demo mockup.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8112" y="941832"/>
            <a:ext cx="6254496" cy="39913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staff-queue-console.crop_0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603504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07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D26"/>
                </a:solidFill>
                <a:latin typeface="Arial"/>
              </a:rPr>
              <a:t>Owners finally see their own numbers, not a guess.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Live totals: tokens issued, clinic fees collected, fees still due, and what VisitNow itself earned.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Day-by-day trend charts for revenue and volume, not one number frozen at the end of the month.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One click to a CSV or a print-ready report, built from the same records the queue runs on.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Nothing here is a second copy of the truth. Every figure is computed fresh from the live queue.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8112" y="941832"/>
            <a:ext cx="6254496" cy="39913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-staff-revenue.crop_0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603504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08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D26"/>
                </a:solidFill>
                <a:latin typeface="Arial"/>
              </a:rPr>
              <a:t>A doctor's own P&amp;L, across every clinic they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Today's revenue, this month's revenue, and a daily-average token count, at a glance.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Revenue split by clinic: Dr. Kumar sees ₹11,500 from one hospital and ₹2,750 from another, never one blended number.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A breakdown of how patients actually reach the queue: online, walk-in, or a converted appointment.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The same downloadable, printable report a hospital owner gets, scoped to just this one doctor.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8112" y="941832"/>
            <a:ext cx="6254496" cy="39913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doctor-dashboard.crop_0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603504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09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PROOF, NOT A 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D26"/>
                </a:solidFill>
                <a:latin typeface="Arial"/>
              </a:rPr>
              <a:t>Warangal runs the exact same product as Hyderabad. Nothing was rebuilt to get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64791"/>
            <a:ext cx="6711696" cy="273519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-warangal-home.crop_0_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6492240" cy="25157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201168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21408"/>
            <a:ext cx="1463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3AA6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121408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5F6E"/>
                </a:solidFill>
                <a:latin typeface="Calibri"/>
              </a:rPr>
              <a:t>cities live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33756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447288"/>
            <a:ext cx="1463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3AA6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447288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5F6E"/>
                </a:solidFill>
                <a:latin typeface="Calibri"/>
              </a:rPr>
              <a:t>partner clinics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6344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773168"/>
            <a:ext cx="1463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3AA6"/>
                </a:solidFill>
                <a:latin typeface="Arial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4773168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5F6E"/>
                </a:solidFill>
                <a:latin typeface="Calibri"/>
              </a:rPr>
              <a:t>doctors seeing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0350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6899A"/>
                </a:solidFill>
                <a:latin typeface="Calibri"/>
              </a:rPr>
              <a:t>Demo environment, seeded to show real multi-tenant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10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4A3FB"/>
                </a:solidFill>
                <a:latin typeface="Calibri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Every hospital is a walled garden. Every login, a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9C1D6"/>
                </a:solidFill>
                <a:latin typeface="Calibri"/>
              </a:rPr>
              <a:t>Five account types, each scoped to exactly what it should see, and never anything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749808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Super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43230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50" b="1">
                <a:solidFill>
                  <a:srgbClr val="74A3FB"/>
                </a:solidFill>
                <a:latin typeface="Calibri"/>
              </a:rPr>
              <a:t>App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331720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CDDC"/>
                </a:solidFill>
                <a:latin typeface="Calibri"/>
              </a:rPr>
              <a:t>Runs the whole platform and onboards every new hospital, personally or through their own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18104"/>
            <a:ext cx="10698480" cy="749808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9544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Super Admin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31012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50" b="1">
                <a:solidFill>
                  <a:srgbClr val="74A3FB"/>
                </a:solidFill>
                <a:latin typeface="Calibri"/>
              </a:rPr>
              <a:t>VisitNow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209544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CDDC"/>
                </a:solidFill>
                <a:latin typeface="Calibri"/>
              </a:rPr>
              <a:t>Holds only the modules the owner hands them: Hospitals and Doctors for one person, Payments for another.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95928"/>
            <a:ext cx="10698480" cy="749808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8736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Hospital 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418795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50" b="1">
                <a:solidFill>
                  <a:srgbClr val="74A3FB"/>
                </a:solidFill>
                <a:latin typeface="Calibri"/>
              </a:rPr>
              <a:t>Hospital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087368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CDDC"/>
                </a:solidFill>
                <a:latin typeface="Calibri"/>
              </a:rPr>
              <a:t>Owns everything inside their one hospital. Nothing outside it exists to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73752"/>
            <a:ext cx="10698480" cy="749808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65192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Hospital Staff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5065776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50" b="1">
                <a:solidFill>
                  <a:srgbClr val="74A3FB"/>
                </a:solidFill>
                <a:latin typeface="Calibri"/>
              </a:rPr>
              <a:t>Reception, cashier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965192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CDDC"/>
                </a:solidFill>
                <a:latin typeface="Calibri"/>
              </a:rPr>
              <a:t>Same idea, one level down. A front-desk login gets Queue and Tokens; a cashier gets Payments and Refunds.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51576"/>
            <a:ext cx="10698480" cy="749808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843016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Doctor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5943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50" b="1">
                <a:solidFill>
                  <a:srgbClr val="74A3FB"/>
                </a:solidFill>
                <a:latin typeface="Calibri"/>
              </a:rPr>
              <a:t>Clinician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843016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CDDC"/>
                </a:solidFill>
                <a:latin typeface="Calibri"/>
              </a:rPr>
              <a:t>Sees their own queue and their own revenue, across every clinic they actually work 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11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D26"/>
                </a:solidFill>
                <a:latin typeface="Arial"/>
              </a:rPr>
              <a:t>Access isn't a role. It's a list, and only the owner controls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A new staff login starts with zero permissions. The owner grants exactly what that job needs, module by module.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Reception gets Queue, Tokens, and Appointments. A cashier gets Payments and Refunds. Never the whole console by default.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Every permission is checked twice: once in the interface, and again on the server, on every single request.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5B5F6E"/>
                </a:solidFill>
                <a:latin typeface="Calibri"/>
              </a:rPr>
              <a:t>▪  Editing permissions is never delegable, not even to a staff account that already holds everything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8112" y="941832"/>
            <a:ext cx="6254496" cy="39913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staff-team.crop_0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603504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GROWTH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A1D26"/>
                </a:solidFill>
                <a:latin typeface="Arial"/>
              </a:rPr>
              <a:t>Two growth levers, already built in, not sketched on a roadmap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19072"/>
            <a:ext cx="5340096" cy="22037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coupons.crop_0_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120640" cy="19842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99632" y="1719072"/>
            <a:ext cx="5340096" cy="22037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crm.crop_0_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5120640" cy="1984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1788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D26"/>
                </a:solidFill>
                <a:latin typeface="Arial"/>
              </a:rPr>
              <a:t>Coupons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62856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Percent or flat, scoped to one clinic or the whole platform. The real discount is recalculated on the server, never trusted from the browser.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1788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D26"/>
                </a:solidFill>
                <a:latin typeface="Arial"/>
              </a:rPr>
              <a:t>Patient 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62856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Every patient across every clinic, grouped by real visit history: how many visits, how much paid, where they've been seen.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13 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4A3FB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Arial"/>
              </a:rPr>
              <a:t>₹9 a token. No cut of the clinic's own price.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4A3FB"/>
                </a:solidFill>
                <a:latin typeface="Calibri"/>
              </a:rPr>
              <a:t>PER ONLINE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Arial"/>
              </a:rPr>
              <a:t>₹9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7CDDC"/>
                </a:solidFill>
                <a:latin typeface="Calibri"/>
              </a:rPr>
              <a:t>VisitNow's own fee. Fixed. Never a percentage of the clinic's price.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069080"/>
            <a:ext cx="4480560" cy="1554480"/>
          </a:xfrm>
          <a:prstGeom prst="roundRect">
            <a:avLst>
              <a:gd name="adj" fmla="val 8000"/>
            </a:avLst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2519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Clinic keeps its own fee, in 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1772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Set by the clinic, paid online or at the counter. VisitNow never touches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0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4A3FB"/>
                </a:solidFill>
                <a:latin typeface="Calibri"/>
              </a:rPr>
              <a:t>WHY IT SCALES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97480"/>
            <a:ext cx="44805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200">
                <a:solidFill>
                  <a:srgbClr val="C7CDDC"/>
                </a:solidFill>
                <a:latin typeface="Calibri"/>
              </a:rPr>
              <a:t>▪  Revenue tracks token volume, not deal size. No rate to negotiate hospital by hospital.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200">
                <a:solidFill>
                  <a:srgbClr val="C7CDDC"/>
                </a:solidFill>
                <a:latin typeface="Calibri"/>
              </a:rPr>
              <a:t>▪  A flat fee removes the one objection every clinic raises about digital tools: “are you taking a cut of my margin.”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200">
                <a:solidFill>
                  <a:srgbClr val="C7CDDC"/>
                </a:solidFill>
                <a:latin typeface="Calibri"/>
              </a:rPr>
              <a:t>▪  Coupons and settlements are already-built levers to drive volume and manage payouts.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200">
                <a:solidFill>
                  <a:srgbClr val="C7CDDC"/>
                </a:solidFill>
                <a:latin typeface="Calibri"/>
              </a:rPr>
              <a:t>▪  Walk-in tokens run through the same queue before a patient ever pays online, so VisitNow becomes the clinic's operating system first, and the payment layer second.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14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D26"/>
                </a:solidFill>
                <a:latin typeface="Arial"/>
              </a:rPr>
              <a:t>Built to scale, not to be replaced in six months.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084831"/>
            <a:ext cx="365760" cy="73152"/>
          </a:xfrm>
          <a:prstGeom prst="roundRect">
            <a:avLst>
              <a:gd name="adj" fmla="val 50000"/>
            </a:avLst>
          </a:prstGeom>
          <a:solidFill>
            <a:srgbClr val="1C6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6"/>
                </a:solidFill>
                <a:latin typeface="Arial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4320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React 19 + Vite + TypeScript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Tailwind v4, a custom design system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Native responsive web: one codebase, every screen size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Live polling keeps every screen current without a refresh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2" y="2084831"/>
            <a:ext cx="365760" cy="73152"/>
          </a:xfrm>
          <a:prstGeom prst="roundRect">
            <a:avLst>
              <a:gd name="adj" fmla="val 50000"/>
            </a:avLst>
          </a:prstGeom>
          <a:solidFill>
            <a:srgbClr val="1C6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6"/>
                </a:solidFill>
                <a:latin typeface="Arial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74320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Node.js + Express + TypeScript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REST API, one clear route per action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Queue order, fees, and refunds all enforced server-side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Every write is re-validated on the server. The client is never trusted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2880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11312" y="2084831"/>
            <a:ext cx="365760" cy="73152"/>
          </a:xfrm>
          <a:prstGeom prst="roundRect">
            <a:avLst>
              <a:gd name="adj" fmla="val 50000"/>
            </a:avLst>
          </a:prstGeom>
          <a:solidFill>
            <a:srgbClr val="1C6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D26"/>
                </a:solidFill>
                <a:latin typeface="Arial"/>
              </a:rPr>
              <a:t>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74320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Real accounts, checked server-side on every request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Role + module permission model, not fixed roles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Ownership and capability checked as two separate rules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80">
                <a:solidFill>
                  <a:srgbClr val="5B5F6E"/>
                </a:solidFill>
                <a:latin typeface="Calibri"/>
              </a:rPr>
              <a:t>▪  Anti-escalation rules enforced at the route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15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62EC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D26"/>
                </a:solidFill>
                <a:latin typeface="Arial"/>
              </a:rPr>
              <a:t>Whichever door a patient walks through, they land in the same 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AA6"/>
                </a:solidFill>
                <a:latin typeface="Arial"/>
              </a:rPr>
              <a:t>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5F6E"/>
                </a:solidFill>
                <a:latin typeface="Calibri"/>
              </a:rPr>
              <a:t>Booked from the app, paid ahead or at the counter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AA6"/>
                </a:solidFill>
                <a:latin typeface="Arial"/>
              </a:rPr>
              <a:t>Walk-in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146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5F6E"/>
                </a:solidFill>
                <a:latin typeface="Calibri"/>
              </a:rPr>
              <a:t>Generated at reception, in person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92024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AA6"/>
                </a:solidFill>
                <a:latin typeface="Arial"/>
              </a:rPr>
              <a:t>Appointment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5F6E"/>
                </a:solidFill>
                <a:latin typeface="Calibri"/>
              </a:rPr>
              <a:t>A scheduled slot, converted the moment it arrives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486400" y="3429000"/>
            <a:ext cx="1188720" cy="411480"/>
          </a:xfrm>
          <a:prstGeom prst="downArrow">
            <a:avLst/>
          </a:prstGeom>
          <a:solidFill>
            <a:srgbClr val="E4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0" y="3977639"/>
            <a:ext cx="7040880" cy="960120"/>
          </a:xfrm>
          <a:prstGeom prst="roundRect">
            <a:avLst>
              <a:gd name="adj" fmla="val 12000"/>
            </a:avLst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977639"/>
            <a:ext cx="7040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One queue. One call order. One token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5F6E"/>
                </a:solidFill>
                <a:latin typeface="Calibri"/>
              </a:rPr>
              <a:t>Priority is layered on top (emergency, then priority, then regular), and only a staff account can assign it. A patient can never self-declare an emergency. Every transition (waiting to called to in progress to completed) is enforced server-side, so the console can never show an impossible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99A"/>
                </a:solidFill>
                <a:latin typeface="Calibri"/>
              </a:rPr>
              <a:t>16 /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6899A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4A3FB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The product works today. Here's what funding buys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50008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A real payment gateway (Razorpay/Cashfree) in place of today's simulated checkout.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350008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Real SMS/push/WhatsApp delivery in place of today's in-app activity log.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Settlements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67328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Automated payout runs to clinics, on top of the settlements module already scaffolded.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383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67328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More cities, more clinics. The onboarding flow already supports it; this is a go-to-market problem, not an engineering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Native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84648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iOS/Android wrappers around the same responsive product, for patients and reception alike.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800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Deeper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184648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9C1D6"/>
                </a:solidFill>
                <a:latin typeface="Calibri"/>
              </a:rPr>
              <a:t>Predictive wait times from real historical consult data, once there's a real history to learn from.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17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0"/>
            </a:avLst>
          </a:prstGeom>
          <a:solidFill>
            <a:srgbClr val="1C6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VisitNow already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337560"/>
            <a:ext cx="8503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CDDC"/>
                </a:solidFill>
                <a:latin typeface="Calibri"/>
              </a:rPr>
              <a:t>Token-first queueing, real multi-tenant hospital operations, and a genuine permission system.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CDDC"/>
                </a:solidFill>
                <a:latin typeface="Calibri"/>
              </a:rPr>
              <a:t>Built, not promised. We're ready to put it in front of more clinics.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VisitNow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